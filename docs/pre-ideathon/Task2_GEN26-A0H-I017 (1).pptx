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8" r:id="rId2"/>
    <p:sldId id="259" r:id="rId3"/>
    <p:sldId id="260" r:id="rId4"/>
    <p:sldId id="261" r:id="rId5"/>
    <p:sldId id="262" r:id="rId6"/>
    <p:sldId id="263"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34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6752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txBody>
          <a:bodyPr/>
          <a:lstStyle/>
          <a:p>
            <a:endParaRPr lang="en-US"/>
          </a:p>
        </p:txBody>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MindMesh</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Primary users / target group</a:t>
            </a:r>
          </a:p>
          <a:p>
            <a:pPr>
              <a:spcAft>
                <a:spcPts val="1000"/>
              </a:spcAft>
              <a:buClr>
                <a:schemeClr val="accent1"/>
              </a:buClr>
              <a:buSzPct val="100000"/>
            </a:pPr>
            <a:r>
              <a:rPr lang="en-US" dirty="0"/>
              <a:t>Individuals with limited AI awareness, especially students, job seekers, small business owners, rural users, and first-time AI users who need guidance in choosing and using the right AI tools for their needs.</a:t>
            </a:r>
            <a:endParaRPr lang="en-US" sz="1800" dirty="0"/>
          </a:p>
          <a:p>
            <a:pPr marL="279400" indent="-279400">
              <a:spcAft>
                <a:spcPts val="1000"/>
              </a:spcAft>
              <a:buClr>
                <a:schemeClr val="accent1"/>
              </a:buClr>
              <a:buSzPct val="100000"/>
              <a:buChar char="•"/>
            </a:pPr>
            <a:r>
              <a:rPr lang="en-US" sz="1800" dirty="0">
                <a:solidFill>
                  <a:schemeClr val="tx1"/>
                </a:solidFill>
              </a:rPr>
              <a:t>Secondary stakeholders</a:t>
            </a:r>
          </a:p>
          <a:p>
            <a:pPr>
              <a:spcAft>
                <a:spcPts val="1000"/>
              </a:spcAft>
              <a:buClr>
                <a:schemeClr val="accent1"/>
              </a:buClr>
              <a:buSzPct val="100000"/>
            </a:pPr>
            <a:r>
              <a:rPr lang="en-US" dirty="0"/>
              <a:t> Colleges, Training Centers, Employers, local Organizations and clubs meant for different community needs.</a:t>
            </a:r>
            <a:endParaRPr lang="en-US" sz="1800" dirty="0"/>
          </a:p>
          <a:p>
            <a:pPr marL="279400" indent="-279400">
              <a:spcAft>
                <a:spcPts val="1000"/>
              </a:spcAft>
              <a:buClr>
                <a:schemeClr val="accent1"/>
              </a:buClr>
              <a:buSzPct val="100000"/>
              <a:buChar char="•"/>
            </a:pPr>
            <a:r>
              <a:rPr lang="en-US" sz="1800" dirty="0">
                <a:solidFill>
                  <a:schemeClr val="tx1"/>
                </a:solidFill>
              </a:rPr>
              <a:t>Who benefits if the problem is solved?</a:t>
            </a:r>
          </a:p>
          <a:p>
            <a:pPr>
              <a:spcAft>
                <a:spcPts val="1000"/>
              </a:spcAft>
              <a:buClr>
                <a:schemeClr val="accent1"/>
              </a:buClr>
              <a:buSzPct val="100000"/>
            </a:pPr>
            <a:r>
              <a:rPr lang="en-US" dirty="0"/>
              <a:t> Every individual seeking guidance on when, where, and which AI tool to use can benefit from this solution. It helps them save time, improve productivity, and make better use of AI.</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MindMesh</a:t>
            </a:r>
            <a:endParaRPr lang="en-US" sz="900" dirty="0"/>
          </a:p>
        </p:txBody>
      </p:sp>
      <p:sp>
        <p:nvSpPr>
          <p:cNvPr id="7" name="Lead Icon Hex"/>
          <p:cNvSpPr/>
          <p:nvPr/>
        </p:nvSpPr>
        <p:spPr>
          <a:xfrm>
            <a:off x="603504" y="1305684"/>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699516" y="1378017"/>
            <a:ext cx="228600" cy="274320"/>
          </a:xfrm>
          <a:prstGeom prst="rect">
            <a:avLst/>
          </a:prstGeom>
        </p:spPr>
      </p:pic>
      <p:sp>
        <p:nvSpPr>
          <p:cNvPr id="9" name="Lead Text"/>
          <p:cNvSpPr txBox="1"/>
          <p:nvPr/>
        </p:nvSpPr>
        <p:spPr>
          <a:xfrm>
            <a:off x="1170432" y="1216152"/>
            <a:ext cx="9601200" cy="517551"/>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1097280" y="1652337"/>
            <a:ext cx="10364804" cy="1844842"/>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scenario and background</a:t>
            </a:r>
            <a:r>
              <a:rPr lang="en-US" dirty="0"/>
              <a:t>: New AI tools are launching constantly, making it difficult to keep track of what is available. With so many new AI launching all the time, it is hard to find the truly useful one. Even after finding the right AI tool, Many people don’t know how to use it effectively.</a:t>
            </a:r>
            <a:endParaRPr lang="en-US" sz="1800" dirty="0"/>
          </a:p>
          <a:p>
            <a:pPr marL="279400" indent="-279400">
              <a:spcAft>
                <a:spcPts val="1000"/>
              </a:spcAft>
              <a:buClr>
                <a:schemeClr val="accent1"/>
              </a:buClr>
              <a:buSzPct val="100000"/>
              <a:buChar char="•"/>
            </a:pPr>
            <a:r>
              <a:rPr lang="en-US" dirty="0"/>
              <a:t>Facts :There are thousands of AI tools available for different purposes. Information about AI tools is scattered across different websites, social media, and online platforms. Users often depend on search engines or social media to find suitable tools.   </a:t>
            </a:r>
            <a:endParaRPr lang="en-US" sz="1800" dirty="0"/>
          </a:p>
          <a:p>
            <a:pPr>
              <a:spcAft>
                <a:spcPts val="1000"/>
              </a:spcAft>
              <a:buClr>
                <a:schemeClr val="accent1"/>
              </a:buClr>
              <a:buSzPct val="100000"/>
            </a:pPr>
            <a:endParaRPr lang="en-US" sz="1800" dirty="0">
              <a:solidFill>
                <a:schemeClr val="tx1"/>
              </a:solidFill>
            </a:endParaRPr>
          </a:p>
          <a:p>
            <a:pPr marL="279400" indent="-279400">
              <a:spcAft>
                <a:spcPts val="1000"/>
              </a:spcAft>
              <a:buClr>
                <a:schemeClr val="accent1"/>
              </a:buClr>
              <a:buSzPct val="100000"/>
              <a:buChar char="•"/>
            </a:pPr>
            <a:endParaRPr lang="en-US" sz="1800" dirty="0">
              <a:solidFill>
                <a:schemeClr val="tx1"/>
              </a:solidFill>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pic>
        <p:nvPicPr>
          <p:cNvPr id="12" name="Picture 11" descr="The image illustrates a step-by-step workflow for selecting and using AI tools, starting from identifying a problem, researching and comparing tools, and finally applying the chosen tool to complete a task.&#10;&#10;AI-generated content may be incorrect.">
            <a:extLst>
              <a:ext uri="{FF2B5EF4-FFF2-40B4-BE49-F238E27FC236}">
                <a16:creationId xmlns:a16="http://schemas.microsoft.com/office/drawing/2014/main" id="{68DAD627-16FB-7415-ACF0-DA6923ECFC4E}"/>
              </a:ext>
            </a:extLst>
          </p:cNvPr>
          <p:cNvPicPr>
            <a:picLocks noChangeAspect="1"/>
          </p:cNvPicPr>
          <p:nvPr/>
        </p:nvPicPr>
        <p:blipFill>
          <a:blip r:embed="rId5"/>
          <a:stretch>
            <a:fillRect/>
          </a:stretch>
        </p:blipFill>
        <p:spPr>
          <a:xfrm>
            <a:off x="1981200" y="3429000"/>
            <a:ext cx="6809874" cy="28274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err="1">
                <a:solidFill>
                  <a:schemeClr val="accent1"/>
                </a:solidFill>
              </a:rPr>
              <a:t>MindMesh</a:t>
            </a:r>
            <a:endParaRPr lang="en-US" sz="1500" b="1" dirty="0">
              <a:solidFill>
                <a:schemeClr val="accent1"/>
              </a:solidFill>
            </a:endParaRPr>
          </a:p>
        </p:txBody>
      </p:sp>
      <p:sp>
        <p:nvSpPr>
          <p:cNvPr id="7" name="Lead Icon Hex"/>
          <p:cNvSpPr/>
          <p:nvPr/>
        </p:nvSpPr>
        <p:spPr>
          <a:xfrm>
            <a:off x="548640" y="1394708"/>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640080" y="1451283"/>
            <a:ext cx="274320" cy="274320"/>
          </a:xfrm>
          <a:prstGeom prst="rect">
            <a:avLst/>
          </a:prstGeom>
        </p:spPr>
      </p:pic>
      <p:sp>
        <p:nvSpPr>
          <p:cNvPr id="9" name="Lead Text"/>
          <p:cNvSpPr txBox="1"/>
          <p:nvPr/>
        </p:nvSpPr>
        <p:spPr>
          <a:xfrm>
            <a:off x="1170432" y="1325461"/>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768851" y="1911381"/>
            <a:ext cx="10424160" cy="1645920"/>
          </a:xfrm>
          <a:prstGeom prst="rect">
            <a:avLst/>
          </a:prstGeom>
          <a:noFill/>
          <a:ln/>
        </p:spPr>
        <p:txBody>
          <a:bodyPr wrap="square" lIns="0" tIns="0" rIns="0" bIns="0" rtlCol="0" anchor="t"/>
          <a:lstStyle/>
          <a:p>
            <a:pPr marL="342900" indent="-342900">
              <a:spcAft>
                <a:spcPts val="1000"/>
              </a:spcAft>
              <a:buClr>
                <a:schemeClr val="accent1"/>
              </a:buClr>
              <a:buSzPct val="100000"/>
              <a:buFont typeface="Arial" panose="020B0604020202020204" pitchFamily="34" charset="0"/>
              <a:buChar char="•"/>
            </a:pPr>
            <a:r>
              <a:rPr lang="en-US" sz="1800" dirty="0">
                <a:solidFill>
                  <a:schemeClr val="tx1"/>
                </a:solidFill>
              </a:rPr>
              <a:t>Main difficulties and bottlenecks</a:t>
            </a:r>
            <a:r>
              <a:rPr lang="en-US" dirty="0"/>
              <a:t>:</a:t>
            </a:r>
          </a:p>
          <a:p>
            <a:pPr marL="800100" lvl="1" indent="-342900" algn="justLow">
              <a:spcAft>
                <a:spcPts val="1000"/>
              </a:spcAft>
              <a:buClr>
                <a:schemeClr val="accent1"/>
              </a:buClr>
              <a:buSzPct val="100000"/>
              <a:buFont typeface="Wingdings" panose="05000000000000000000" pitchFamily="2" charset="2"/>
              <a:buChar char="Ø"/>
            </a:pPr>
            <a:r>
              <a:rPr lang="en-US" dirty="0"/>
              <a:t>As there are too many AI tools , people struggle to choose the right one.</a:t>
            </a:r>
          </a:p>
          <a:p>
            <a:pPr marL="800100" lvl="1" indent="-342900" algn="justLow">
              <a:spcAft>
                <a:spcPts val="1000"/>
              </a:spcAft>
              <a:buClr>
                <a:schemeClr val="accent1"/>
              </a:buClr>
              <a:buSzPct val="100000"/>
              <a:buFont typeface="Wingdings" panose="05000000000000000000" pitchFamily="2" charset="2"/>
              <a:buChar char="Ø"/>
            </a:pPr>
            <a:r>
              <a:rPr lang="en-US" dirty="0"/>
              <a:t>Users often spend time experimenting with multiple tools.</a:t>
            </a:r>
          </a:p>
          <a:p>
            <a:pPr marL="800100" lvl="1" indent="-342900" algn="justLow">
              <a:spcAft>
                <a:spcPts val="1000"/>
              </a:spcAft>
              <a:buClr>
                <a:schemeClr val="accent1"/>
              </a:buClr>
              <a:buSzPct val="100000"/>
              <a:buFont typeface="Wingdings" panose="05000000000000000000" pitchFamily="2" charset="2"/>
              <a:buChar char="Ø"/>
            </a:pPr>
            <a:r>
              <a:rPr lang="en-US" dirty="0"/>
              <a:t>Users stick to one AI tool without knowing that other tools could better meet their needs.</a:t>
            </a:r>
          </a:p>
          <a:p>
            <a:pPr marL="285750" indent="-285750">
              <a:spcAft>
                <a:spcPts val="1000"/>
              </a:spcAft>
              <a:buClr>
                <a:schemeClr val="accent1"/>
              </a:buClr>
              <a:buSzPct val="100000"/>
              <a:buFont typeface="Arial" panose="020B0604020202020204" pitchFamily="34" charset="0"/>
              <a:buChar char="•"/>
            </a:pPr>
            <a:r>
              <a:rPr lang="en-US" sz="1800" dirty="0">
                <a:solidFill>
                  <a:schemeClr val="tx1"/>
                </a:solidFill>
              </a:rPr>
              <a:t>Root causes behind them</a:t>
            </a:r>
            <a:r>
              <a:rPr lang="en-US" dirty="0"/>
              <a:t>:</a:t>
            </a:r>
          </a:p>
          <a:p>
            <a:pPr marL="742950" lvl="1" indent="-285750">
              <a:spcAft>
                <a:spcPts val="1000"/>
              </a:spcAft>
              <a:buClr>
                <a:schemeClr val="accent1"/>
              </a:buClr>
              <a:buSzPct val="100000"/>
              <a:buFont typeface="Wingdings" panose="05000000000000000000" pitchFamily="2" charset="2"/>
              <a:buChar char="Ø"/>
            </a:pPr>
            <a:r>
              <a:rPr lang="en-US" dirty="0"/>
              <a:t> AI technology is evolving faster than people can learn to use it.</a:t>
            </a:r>
          </a:p>
          <a:p>
            <a:pPr marL="742950" lvl="1" indent="-285750">
              <a:spcAft>
                <a:spcPts val="1000"/>
              </a:spcAft>
              <a:buClr>
                <a:schemeClr val="accent1"/>
              </a:buClr>
              <a:buSzPct val="100000"/>
              <a:buFont typeface="Wingdings" panose="05000000000000000000" pitchFamily="2" charset="2"/>
              <a:buChar char="Ø"/>
            </a:pPr>
            <a:r>
              <a:rPr lang="en-US" dirty="0"/>
              <a:t>There is no specific guidance on which tool suits a specific task.</a:t>
            </a:r>
          </a:p>
          <a:p>
            <a:pPr marL="285750" indent="-285750">
              <a:spcAft>
                <a:spcPts val="1000"/>
              </a:spcAft>
              <a:buClr>
                <a:schemeClr val="accent1"/>
              </a:buClr>
              <a:buSzPct val="100000"/>
              <a:buFont typeface="Arial" panose="020B0604020202020204" pitchFamily="34" charset="0"/>
              <a:buChar char="•"/>
            </a:pPr>
            <a:r>
              <a:rPr lang="en-US" sz="1800" dirty="0">
                <a:solidFill>
                  <a:schemeClr val="tx1"/>
                </a:solidFill>
              </a:rPr>
              <a:t>Consequences of leaving them unsolved</a:t>
            </a:r>
            <a:r>
              <a:rPr lang="en-US" dirty="0"/>
              <a:t>:</a:t>
            </a:r>
          </a:p>
          <a:p>
            <a:pPr marL="742950" lvl="1" indent="-285750">
              <a:spcAft>
                <a:spcPts val="1000"/>
              </a:spcAft>
              <a:buClr>
                <a:schemeClr val="accent1"/>
              </a:buClr>
              <a:buSzPct val="100000"/>
              <a:buFont typeface="Wingdings" panose="05000000000000000000" pitchFamily="2" charset="2"/>
              <a:buChar char="Ø"/>
            </a:pPr>
            <a:r>
              <a:rPr lang="en-US" dirty="0"/>
              <a:t> Time and effort are wasted searching for suitable tools.</a:t>
            </a:r>
          </a:p>
          <a:p>
            <a:pPr marL="742950" lvl="1" indent="-285750">
              <a:spcAft>
                <a:spcPts val="1000"/>
              </a:spcAft>
              <a:buClr>
                <a:schemeClr val="accent1"/>
              </a:buClr>
              <a:buSzPct val="100000"/>
              <a:buFont typeface="Wingdings" panose="05000000000000000000" pitchFamily="2" charset="2"/>
              <a:buChar char="Ø"/>
            </a:pPr>
            <a:r>
              <a:rPr lang="en-US" dirty="0"/>
              <a:t> People will spend money on unwanted AI courses.</a:t>
            </a:r>
          </a:p>
          <a:p>
            <a:pPr marL="742950" lvl="1" indent="-285750">
              <a:spcAft>
                <a:spcPts val="1000"/>
              </a:spcAft>
              <a:buClr>
                <a:schemeClr val="accent1"/>
              </a:buClr>
              <a:buSzPct val="100000"/>
              <a:buFont typeface="Wingdings" panose="05000000000000000000" pitchFamily="2" charset="2"/>
              <a:buChar char="Ø"/>
            </a:pPr>
            <a:r>
              <a:rPr lang="en-US" dirty="0"/>
              <a:t> People use the wrong AI tools, leading to poor results and discouraging them from further use.</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pic>
        <p:nvPicPr>
          <p:cNvPr id="18" name="Picture 17">
            <a:extLst>
              <a:ext uri="{FF2B5EF4-FFF2-40B4-BE49-F238E27FC236}">
                <a16:creationId xmlns:a16="http://schemas.microsoft.com/office/drawing/2014/main" id="{A69D3CE4-6310-3A35-773F-D07760928B5C}"/>
              </a:ext>
            </a:extLst>
          </p:cNvPr>
          <p:cNvPicPr>
            <a:picLocks noChangeAspect="1"/>
          </p:cNvPicPr>
          <p:nvPr/>
        </p:nvPicPr>
        <p:blipFill>
          <a:blip r:embed="rId5">
            <a:alphaModFix amt="85000"/>
            <a:extLst>
              <a:ext uri="{BEBA8EAE-BF5A-486C-A8C5-ECC9F3942E4B}">
                <a14:imgProps xmlns:a14="http://schemas.microsoft.com/office/drawing/2010/main">
                  <a14:imgLayer r:embed="rId6">
                    <a14:imgEffect>
                      <a14:artisticWatercolorSponge/>
                    </a14:imgEffect>
                  </a14:imgLayer>
                </a14:imgProps>
              </a:ext>
            </a:extLst>
          </a:blip>
          <a:stretch>
            <a:fillRect/>
          </a:stretch>
        </p:blipFill>
        <p:spPr>
          <a:xfrm>
            <a:off x="7323049" y="3291015"/>
            <a:ext cx="4393158" cy="2451995"/>
          </a:xfrm>
          <a:prstGeom prst="rect">
            <a:avLst/>
          </a:prstGeom>
          <a:ln>
            <a:noFill/>
          </a:ln>
          <a:effectLst>
            <a:softEdge rad="112500"/>
          </a:effectLst>
        </p:spPr>
      </p:pic>
      <p:pic>
        <p:nvPicPr>
          <p:cNvPr id="22" name="Picture 21">
            <a:extLst>
              <a:ext uri="{FF2B5EF4-FFF2-40B4-BE49-F238E27FC236}">
                <a16:creationId xmlns:a16="http://schemas.microsoft.com/office/drawing/2014/main" id="{DACC0CB9-22C6-2DA7-B252-34F43F95F773}"/>
              </a:ext>
            </a:extLst>
          </p:cNvPr>
          <p:cNvPicPr>
            <a:picLocks noChangeAspect="1"/>
          </p:cNvPicPr>
          <p:nvPr/>
        </p:nvPicPr>
        <p:blipFill>
          <a:blip r:embed="rId7">
            <a:alphaModFix/>
          </a:blip>
          <a:srcRect/>
          <a:stretch>
            <a:fillRect/>
          </a:stretch>
        </p:blipFill>
        <p:spPr>
          <a:xfrm>
            <a:off x="8245954" y="5532539"/>
            <a:ext cx="2374508" cy="4456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MindMesh</a:t>
            </a:r>
            <a:endParaRPr lang="en-US" sz="900" dirty="0"/>
          </a:p>
        </p:txBody>
      </p:sp>
      <p:sp>
        <p:nvSpPr>
          <p:cNvPr id="7" name="Lead Icon Hex"/>
          <p:cNvSpPr/>
          <p:nvPr/>
        </p:nvSpPr>
        <p:spPr>
          <a:xfrm>
            <a:off x="507492" y="1290591"/>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603504" y="1351398"/>
            <a:ext cx="274320" cy="274320"/>
          </a:xfrm>
          <a:prstGeom prst="rect">
            <a:avLst/>
          </a:prstGeom>
        </p:spPr>
      </p:pic>
      <p:sp>
        <p:nvSpPr>
          <p:cNvPr id="9" name="Lead Text"/>
          <p:cNvSpPr txBox="1"/>
          <p:nvPr/>
        </p:nvSpPr>
        <p:spPr>
          <a:xfrm>
            <a:off x="1143000" y="1237099"/>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964692" y="164289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methods, systems or alternatives</a:t>
            </a:r>
            <a:r>
              <a:rPr lang="en-US" dirty="0"/>
              <a:t>:</a:t>
            </a:r>
          </a:p>
          <a:p>
            <a:pPr marL="742950" lvl="1" indent="-285750">
              <a:spcAft>
                <a:spcPts val="1000"/>
              </a:spcAft>
              <a:buClr>
                <a:schemeClr val="accent1"/>
              </a:buClr>
              <a:buSzPct val="100000"/>
              <a:buFont typeface="Wingdings" panose="05000000000000000000" pitchFamily="2" charset="2"/>
              <a:buChar char="Ø"/>
            </a:pPr>
            <a:r>
              <a:rPr lang="en-US" dirty="0"/>
              <a:t>People use AI tool directories and websites(</a:t>
            </a:r>
            <a:r>
              <a:rPr lang="en-US" dirty="0" err="1"/>
              <a:t>Eg:AIxploria</a:t>
            </a:r>
            <a:r>
              <a:rPr lang="en-US" dirty="0"/>
              <a:t>) for their needs.</a:t>
            </a:r>
          </a:p>
          <a:p>
            <a:pPr marL="742950" lvl="1" indent="-285750">
              <a:spcAft>
                <a:spcPts val="1000"/>
              </a:spcAft>
              <a:buClr>
                <a:schemeClr val="accent1"/>
              </a:buClr>
              <a:buSzPct val="100000"/>
              <a:buFont typeface="Wingdings" panose="05000000000000000000" pitchFamily="2" charset="2"/>
              <a:buChar char="Ø"/>
            </a:pPr>
            <a:r>
              <a:rPr lang="en-US" dirty="0"/>
              <a:t>YouTube videos, blogs and asking a chatbot(</a:t>
            </a:r>
            <a:r>
              <a:rPr lang="en-US" dirty="0" err="1"/>
              <a:t>Eg:ChatGPT</a:t>
            </a:r>
            <a:r>
              <a:rPr lang="en-US" dirty="0"/>
              <a:t>)</a:t>
            </a:r>
          </a:p>
          <a:p>
            <a:pPr marL="279400" indent="-279400">
              <a:spcAft>
                <a:spcPts val="1000"/>
              </a:spcAft>
              <a:buClr>
                <a:schemeClr val="accent1"/>
              </a:buClr>
              <a:buSzPct val="100000"/>
              <a:buChar char="•"/>
            </a:pPr>
            <a:r>
              <a:rPr lang="en-US" sz="1800" dirty="0">
                <a:solidFill>
                  <a:schemeClr val="tx1"/>
                </a:solidFill>
              </a:rPr>
              <a:t>Limitations of each:</a:t>
            </a:r>
          </a:p>
          <a:p>
            <a:pPr marL="742950" lvl="1" indent="-285750">
              <a:spcAft>
                <a:spcPts val="1000"/>
              </a:spcAft>
              <a:buClr>
                <a:schemeClr val="accent1"/>
              </a:buClr>
              <a:buSzPct val="100000"/>
              <a:buFont typeface="Wingdings" panose="05000000000000000000" pitchFamily="2" charset="2"/>
              <a:buChar char="Ø"/>
            </a:pPr>
            <a:r>
              <a:rPr lang="en-US" dirty="0"/>
              <a:t>Directories: huge lists, confusing for beginner</a:t>
            </a:r>
          </a:p>
          <a:p>
            <a:pPr marL="742950" lvl="1" indent="-285750">
              <a:spcAft>
                <a:spcPts val="1000"/>
              </a:spcAft>
              <a:buClr>
                <a:schemeClr val="accent1"/>
              </a:buClr>
              <a:buSzPct val="100000"/>
              <a:buFont typeface="Wingdings" panose="05000000000000000000" pitchFamily="2" charset="2"/>
              <a:buChar char="Ø"/>
            </a:pPr>
            <a:r>
              <a:rPr lang="en-US" dirty="0"/>
              <a:t>Videos and blogs: quickly outdated, sometimes sponsored</a:t>
            </a:r>
          </a:p>
          <a:p>
            <a:pPr marL="742950" lvl="1" indent="-285750">
              <a:spcAft>
                <a:spcPts val="1000"/>
              </a:spcAft>
              <a:buClr>
                <a:schemeClr val="accent1"/>
              </a:buClr>
              <a:buSzPct val="100000"/>
              <a:buFont typeface="Wingdings" panose="05000000000000000000" pitchFamily="2" charset="2"/>
              <a:buChar char="Ø"/>
            </a:pPr>
            <a:r>
              <a:rPr lang="en-US" dirty="0"/>
              <a:t>Chatbots: may suggest outdated or biased tools</a:t>
            </a:r>
          </a:p>
          <a:p>
            <a:pPr marL="279400" indent="-279400">
              <a:spcAft>
                <a:spcPts val="1000"/>
              </a:spcAft>
              <a:buClr>
                <a:schemeClr val="accent1"/>
              </a:buClr>
              <a:buSzPct val="100000"/>
              <a:buChar char="•"/>
            </a:pPr>
            <a:r>
              <a:rPr lang="en-US" sz="1800" dirty="0">
                <a:solidFill>
                  <a:schemeClr val="tx1"/>
                </a:solidFill>
              </a:rPr>
              <a:t>The gap they leave open (Key Challenges):</a:t>
            </a:r>
          </a:p>
          <a:p>
            <a:pPr marL="742950" lvl="1" indent="-285750">
              <a:spcAft>
                <a:spcPts val="1000"/>
              </a:spcAft>
              <a:buClr>
                <a:schemeClr val="accent1"/>
              </a:buClr>
              <a:buSzPct val="100000"/>
              <a:buFont typeface="Wingdings" panose="05000000000000000000" pitchFamily="2" charset="2"/>
              <a:buChar char="Ø"/>
            </a:pPr>
            <a:r>
              <a:rPr lang="en-US" dirty="0"/>
              <a:t>No single website to easily find AI tools, learn how to use them, and get help from experts when they are stuck.</a:t>
            </a:r>
          </a:p>
          <a:p>
            <a:pPr marL="742950" lvl="1" indent="-285750">
              <a:spcAft>
                <a:spcPts val="1000"/>
              </a:spcAft>
              <a:buClr>
                <a:schemeClr val="accent1"/>
              </a:buClr>
              <a:buSzPct val="100000"/>
              <a:buFont typeface="Wingdings" panose="05000000000000000000" pitchFamily="2" charset="2"/>
              <a:buChar char="Ø"/>
            </a:pPr>
            <a:r>
              <a:rPr lang="en-US" dirty="0"/>
              <a:t> Existing solutions help users discover AI tools, but do not simplify the process of choosing the right tool for the right task.</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MindMesh</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34847" y="1929887"/>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Hardware Requirements:</a:t>
            </a:r>
          </a:p>
          <a:p>
            <a:pPr marL="742950" lvl="1" indent="-285750">
              <a:spcAft>
                <a:spcPts val="1000"/>
              </a:spcAft>
              <a:buClr>
                <a:schemeClr val="accent1"/>
              </a:buClr>
              <a:buSzPct val="100000"/>
              <a:buFont typeface="Wingdings" panose="05000000000000000000" pitchFamily="2" charset="2"/>
              <a:buChar char="Ø"/>
            </a:pPr>
            <a:r>
              <a:rPr lang="en-US" dirty="0"/>
              <a:t> Laptops or Desktops, standard network connections and smart phones </a:t>
            </a:r>
          </a:p>
          <a:p>
            <a:pPr marL="742950" lvl="1" indent="-285750">
              <a:spcAft>
                <a:spcPts val="1000"/>
              </a:spcAft>
              <a:buClr>
                <a:schemeClr val="accent1"/>
              </a:buClr>
              <a:buSzPct val="100000"/>
              <a:buFont typeface="Wingdings" panose="05000000000000000000" pitchFamily="2" charset="2"/>
              <a:buChar char="Ø"/>
            </a:pPr>
            <a:r>
              <a:rPr lang="en-US" dirty="0"/>
              <a:t>Cloud/server infrastructure for hosting the platform.</a:t>
            </a:r>
          </a:p>
          <a:p>
            <a:pPr marL="279400" indent="-279400">
              <a:spcAft>
                <a:spcPts val="1000"/>
              </a:spcAft>
              <a:buClr>
                <a:schemeClr val="accent1"/>
              </a:buClr>
              <a:buSzPct val="100000"/>
              <a:buChar char="•"/>
            </a:pPr>
            <a:r>
              <a:rPr lang="en-US" sz="1800" dirty="0">
                <a:solidFill>
                  <a:schemeClr val="tx1"/>
                </a:solidFill>
              </a:rPr>
              <a:t>Software Requirements:</a:t>
            </a:r>
          </a:p>
          <a:p>
            <a:pPr marL="742950" lvl="1" indent="-285750">
              <a:spcAft>
                <a:spcPts val="1000"/>
              </a:spcAft>
              <a:buClr>
                <a:schemeClr val="accent1"/>
              </a:buClr>
              <a:buSzPct val="100000"/>
              <a:buFont typeface="Wingdings" panose="05000000000000000000" pitchFamily="2" charset="2"/>
              <a:buChar char="Ø"/>
            </a:pPr>
            <a:r>
              <a:rPr lang="en-US" dirty="0"/>
              <a:t> Websites, Flutter or React Native to build the app.</a:t>
            </a:r>
          </a:p>
          <a:p>
            <a:pPr marL="742950" lvl="1" indent="-285750">
              <a:spcAft>
                <a:spcPts val="1000"/>
              </a:spcAft>
              <a:buClr>
                <a:schemeClr val="accent1"/>
              </a:buClr>
              <a:buSzPct val="100000"/>
              <a:buFont typeface="Wingdings" panose="05000000000000000000" pitchFamily="2" charset="2"/>
              <a:buChar char="Ø"/>
            </a:pPr>
            <a:r>
              <a:rPr lang="en-US" dirty="0"/>
              <a:t> Python or Java Script, Database, Payment apps, Designing apps, GitHub for Version control.</a:t>
            </a:r>
          </a:p>
          <a:p>
            <a:pPr marL="279400" indent="-279400">
              <a:spcAft>
                <a:spcPts val="1000"/>
              </a:spcAft>
              <a:buClr>
                <a:schemeClr val="accent1"/>
              </a:buClr>
              <a:buSzPct val="100000"/>
              <a:buChar char="•"/>
            </a:pPr>
            <a:r>
              <a:rPr lang="en-US" sz="1800" dirty="0">
                <a:solidFill>
                  <a:schemeClr val="tx1"/>
                </a:solidFill>
              </a:rPr>
              <a:t>Other resources (Including Human Resources):</a:t>
            </a:r>
          </a:p>
          <a:p>
            <a:pPr marL="742950" lvl="1" indent="-285750">
              <a:spcAft>
                <a:spcPts val="1000"/>
              </a:spcAft>
              <a:buClr>
                <a:schemeClr val="accent1"/>
              </a:buClr>
              <a:buSzPct val="100000"/>
              <a:buFont typeface="Wingdings" panose="05000000000000000000" pitchFamily="2" charset="2"/>
              <a:buChar char="Ø"/>
            </a:pPr>
            <a:r>
              <a:rPr lang="en-US" dirty="0"/>
              <a:t> Mobile App or Website developer to build the Android and iOS app.</a:t>
            </a:r>
          </a:p>
          <a:p>
            <a:pPr marL="742950" lvl="1" indent="-285750">
              <a:spcAft>
                <a:spcPts val="1000"/>
              </a:spcAft>
              <a:buClr>
                <a:schemeClr val="accent1"/>
              </a:buClr>
              <a:buSzPct val="100000"/>
              <a:buFont typeface="Wingdings" panose="05000000000000000000" pitchFamily="2" charset="2"/>
              <a:buChar char="Ø"/>
            </a:pPr>
            <a:r>
              <a:rPr lang="en-US" dirty="0"/>
              <a:t> Expert service providers, freelancers and job seekers to complete client's tasks.</a:t>
            </a:r>
          </a:p>
          <a:p>
            <a:pPr marL="742950" lvl="1" indent="-285750">
              <a:spcAft>
                <a:spcPts val="1000"/>
              </a:spcAft>
              <a:buClr>
                <a:schemeClr val="accent1"/>
              </a:buClr>
              <a:buSzPct val="100000"/>
              <a:buFont typeface="Wingdings" panose="05000000000000000000" pitchFamily="2" charset="2"/>
              <a:buChar char="Ø"/>
            </a:pPr>
            <a:r>
              <a:rPr lang="en-US" dirty="0"/>
              <a:t>Marketing and social media manager to bring in users and clients.</a:t>
            </a:r>
          </a:p>
          <a:p>
            <a:pPr marL="742950" lvl="1" indent="-285750">
              <a:spcAft>
                <a:spcPts val="1000"/>
              </a:spcAft>
              <a:buClr>
                <a:schemeClr val="accent1"/>
              </a:buClr>
              <a:buSzPct val="100000"/>
              <a:buFont typeface="Wingdings" panose="05000000000000000000" pitchFamily="2" charset="2"/>
              <a:buChar char="Ø"/>
            </a:pPr>
            <a:r>
              <a:rPr lang="en-US" dirty="0"/>
              <a:t>Data Engineer, back-end developer, AI/ML engineers, Data Analyst, Cybersecurity specialist.</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US"/>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US"/>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MindMesh</a:t>
            </a:r>
            <a:endParaRPr lang="en-US" sz="900" dirty="0"/>
          </a:p>
        </p:txBody>
      </p:sp>
      <p:sp>
        <p:nvSpPr>
          <p:cNvPr id="7" name="Lead Icon Hex"/>
          <p:cNvSpPr/>
          <p:nvPr/>
        </p:nvSpPr>
        <p:spPr>
          <a:xfrm>
            <a:off x="548640" y="1363096"/>
            <a:ext cx="457200" cy="395935"/>
          </a:xfrm>
          <a:prstGeom prst="hexagon">
            <a:avLst/>
          </a:prstGeom>
          <a:solidFill>
            <a:schemeClr val="accent3"/>
          </a:solidFill>
          <a:ln/>
        </p:spPr>
        <p:txBody>
          <a:bodyPr/>
          <a:lstStyle/>
          <a:p>
            <a:endParaRPr lang="en-US"/>
          </a:p>
        </p:txBody>
      </p:sp>
      <p:pic>
        <p:nvPicPr>
          <p:cNvPr id="8" name="Lead Icon" descr="Lightbulb icon"/>
          <p:cNvPicPr>
            <a:picLocks noChangeAspect="1"/>
          </p:cNvPicPr>
          <p:nvPr/>
        </p:nvPicPr>
        <p:blipFill>
          <a:blip r:embed="rId4"/>
          <a:stretch>
            <a:fillRect/>
          </a:stretch>
        </p:blipFill>
        <p:spPr>
          <a:xfrm>
            <a:off x="640080" y="1424527"/>
            <a:ext cx="274320" cy="274320"/>
          </a:xfrm>
          <a:prstGeom prst="rect">
            <a:avLst/>
          </a:prstGeom>
        </p:spPr>
      </p:pic>
      <p:sp>
        <p:nvSpPr>
          <p:cNvPr id="9" name="Lead Text"/>
          <p:cNvSpPr txBox="1"/>
          <p:nvPr/>
        </p:nvSpPr>
        <p:spPr>
          <a:xfrm>
            <a:off x="1170432" y="129479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777240" y="1803976"/>
            <a:ext cx="10424160" cy="1645920"/>
          </a:xfrm>
          <a:prstGeom prst="rect">
            <a:avLst/>
          </a:prstGeom>
          <a:noFill/>
          <a:ln/>
        </p:spPr>
        <p:txBody>
          <a:bodyPr wrap="square" lIns="0" tIns="0" rIns="0" bIns="0" rtlCol="0" anchor="t"/>
          <a:lstStyle/>
          <a:p>
            <a:pPr marL="285750" indent="-285750">
              <a:spcAft>
                <a:spcPts val="1000"/>
              </a:spcAft>
              <a:buClr>
                <a:schemeClr val="accent1"/>
              </a:buClr>
              <a:buSzPct val="100000"/>
              <a:buFont typeface="Arial" panose="020B0604020202020204" pitchFamily="34" charset="0"/>
              <a:buChar char="•"/>
            </a:pPr>
            <a:r>
              <a:rPr lang="en-US" dirty="0">
                <a:solidFill>
                  <a:schemeClr val="tx1"/>
                </a:solidFill>
              </a:rPr>
              <a:t>What your team intends to do:</a:t>
            </a:r>
          </a:p>
          <a:p>
            <a:pPr marL="742950" lvl="1" indent="-285750">
              <a:spcAft>
                <a:spcPts val="1000"/>
              </a:spcAft>
              <a:buClr>
                <a:schemeClr val="accent1"/>
              </a:buClr>
              <a:buSzPct val="100000"/>
              <a:buFont typeface="Wingdings" panose="05000000000000000000" pitchFamily="2" charset="2"/>
              <a:buChar char="Ø"/>
            </a:pPr>
            <a:r>
              <a:rPr lang="en-US" dirty="0">
                <a:solidFill>
                  <a:schemeClr val="tx1"/>
                </a:solidFill>
              </a:rPr>
              <a:t>Build a platform that recommends suitable AI Tools with step -by -step</a:t>
            </a:r>
            <a:r>
              <a:rPr lang="en-US" dirty="0"/>
              <a:t> </a:t>
            </a:r>
            <a:r>
              <a:rPr lang="en-US" dirty="0">
                <a:solidFill>
                  <a:schemeClr val="tx1"/>
                </a:solidFill>
              </a:rPr>
              <a:t>guides and sample prompts.</a:t>
            </a:r>
          </a:p>
          <a:p>
            <a:pPr marL="742950" lvl="1" indent="-285750">
              <a:spcAft>
                <a:spcPts val="1000"/>
              </a:spcAft>
              <a:buClr>
                <a:schemeClr val="accent1"/>
              </a:buClr>
              <a:buSzPct val="100000"/>
              <a:buFont typeface="Wingdings" panose="05000000000000000000" pitchFamily="2" charset="2"/>
              <a:buChar char="Ø"/>
            </a:pPr>
            <a:r>
              <a:rPr lang="en-US" dirty="0"/>
              <a:t>Allow individuals and businesses to request AI assisted services directly through our platform.</a:t>
            </a:r>
          </a:p>
          <a:p>
            <a:pPr marL="742950" lvl="1" indent="-285750">
              <a:spcAft>
                <a:spcPts val="1000"/>
              </a:spcAft>
              <a:buClr>
                <a:schemeClr val="accent1"/>
              </a:buClr>
              <a:buSzPct val="100000"/>
              <a:buFont typeface="Wingdings" panose="05000000000000000000" pitchFamily="2" charset="2"/>
              <a:buChar char="Ø"/>
            </a:pPr>
            <a:r>
              <a:rPr lang="en-US" dirty="0">
                <a:solidFill>
                  <a:schemeClr val="tx1"/>
                </a:solidFill>
              </a:rPr>
              <a:t>Create earning opportunities for people with AI skills</a:t>
            </a:r>
          </a:p>
          <a:p>
            <a:pPr marL="279400" indent="-279400">
              <a:spcAft>
                <a:spcPts val="1000"/>
              </a:spcAft>
              <a:buClr>
                <a:schemeClr val="accent1"/>
              </a:buClr>
              <a:buSzPct val="100000"/>
              <a:buChar char="•"/>
            </a:pPr>
            <a:r>
              <a:rPr lang="en-US" sz="1800" dirty="0">
                <a:solidFill>
                  <a:schemeClr val="tx1"/>
                </a:solidFill>
              </a:rPr>
              <a:t>What you want to improve:</a:t>
            </a:r>
          </a:p>
          <a:p>
            <a:pPr marL="742950" lvl="1" indent="-285750">
              <a:spcAft>
                <a:spcPts val="1000"/>
              </a:spcAft>
              <a:buClr>
                <a:schemeClr val="accent1"/>
              </a:buClr>
              <a:buSzPct val="100000"/>
              <a:buFont typeface="Wingdings" panose="05000000000000000000" pitchFamily="2" charset="2"/>
              <a:buChar char="Ø"/>
            </a:pPr>
            <a:r>
              <a:rPr lang="en-US" dirty="0"/>
              <a:t>Reduce confusion  and time spent searching for AI tools</a:t>
            </a:r>
          </a:p>
          <a:p>
            <a:pPr marL="742950" lvl="1" indent="-285750">
              <a:spcAft>
                <a:spcPts val="1000"/>
              </a:spcAft>
              <a:buClr>
                <a:schemeClr val="accent1"/>
              </a:buClr>
              <a:buSzPct val="100000"/>
              <a:buFont typeface="Wingdings" panose="05000000000000000000" pitchFamily="2" charset="2"/>
              <a:buChar char="Ø"/>
            </a:pPr>
            <a:r>
              <a:rPr lang="en-US" dirty="0">
                <a:solidFill>
                  <a:schemeClr val="tx1"/>
                </a:solidFill>
              </a:rPr>
              <a:t>Increase </a:t>
            </a:r>
            <a:r>
              <a:rPr lang="en-US" dirty="0"/>
              <a:t>awareness of AI tools and their features and Improve access to AI  assisted services for individuals and businesses</a:t>
            </a:r>
          </a:p>
          <a:p>
            <a:pPr marL="279400" indent="-279400">
              <a:spcAft>
                <a:spcPts val="1000"/>
              </a:spcAft>
              <a:buClr>
                <a:schemeClr val="accent1"/>
              </a:buClr>
              <a:buSzPct val="100000"/>
              <a:buChar char="•"/>
            </a:pPr>
            <a:r>
              <a:rPr lang="en-US" sz="1800" dirty="0">
                <a:solidFill>
                  <a:schemeClr val="tx1"/>
                </a:solidFill>
              </a:rPr>
              <a:t>What successful improvement should you achieve:</a:t>
            </a:r>
          </a:p>
          <a:p>
            <a:pPr marL="742950" lvl="1" indent="-285750">
              <a:spcAft>
                <a:spcPts val="1000"/>
              </a:spcAft>
              <a:buClr>
                <a:schemeClr val="accent1"/>
              </a:buClr>
              <a:buSzPct val="100000"/>
              <a:buFont typeface="Wingdings" panose="05000000000000000000" pitchFamily="2" charset="2"/>
              <a:buChar char="Ø"/>
            </a:pPr>
            <a:r>
              <a:rPr lang="en-US" dirty="0"/>
              <a:t>Help users identify the right AI tool within minutes and keep useful AI tools updated across various fields.</a:t>
            </a:r>
          </a:p>
          <a:p>
            <a:pPr marL="742950" lvl="1" indent="-285750">
              <a:spcAft>
                <a:spcPts val="1000"/>
              </a:spcAft>
              <a:buClr>
                <a:schemeClr val="accent1"/>
              </a:buClr>
              <a:buSzPct val="100000"/>
              <a:buFont typeface="Wingdings" panose="05000000000000000000" pitchFamily="2" charset="2"/>
              <a:buChar char="Ø"/>
            </a:pPr>
            <a:r>
              <a:rPr lang="en-US" dirty="0">
                <a:solidFill>
                  <a:schemeClr val="tx1"/>
                </a:solidFill>
              </a:rPr>
              <a:t>Make it as a go-to platform for AI tool discovery and expert assistance.</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TotalTime>
  <Words>801</Words>
  <Application>Microsoft Office PowerPoint</Application>
  <PresentationFormat>Widescreen</PresentationFormat>
  <Paragraphs>86</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Cambria</vt:lpstr>
      <vt:lpstr>Wingdings</vt:lpstr>
      <vt:lpstr>Genesis Ideathon</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selvanishavaradharaj@gmail.com</cp:lastModifiedBy>
  <cp:revision>4</cp:revision>
  <dcterms:created xsi:type="dcterms:W3CDTF">2026-10-07T15:27:40Z</dcterms:created>
  <dcterms:modified xsi:type="dcterms:W3CDTF">2026-10-09T17:55:49Z</dcterms:modified>
</cp:coreProperties>
</file>